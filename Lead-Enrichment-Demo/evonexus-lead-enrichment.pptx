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0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845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@novarahealth.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Lead Enrichment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the tactical (sales) to the technical (LLM systems)</a:t>
            </a:r>
            <a:r>
              <a:rPr lang="en-US" sz="15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modeled on Novara's production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397764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48256" y="397764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48256" y="39776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397764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39312" y="397764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39312" y="39776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02352" y="397764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0368" y="397764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0368" y="39776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3408" y="397764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21424" y="397764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21424" y="397764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Ellington  •  Founder/CEO, Novara Fertility • 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Stephen@novarahealth.io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1100" dirty="0" err="1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novarafertility.com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A6DC8E6-B34C-D937-14D3-A312A67BA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019300"/>
            <a:ext cx="7505700" cy="1104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2B27F53-9B70-D1B1-828D-12AC1B63A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680" y="272929"/>
            <a:ext cx="1347423" cy="1340255"/>
          </a:xfrm>
          <a:prstGeom prst="rect">
            <a:avLst/>
          </a:prstGeom>
        </p:spPr>
      </p:pic>
      <p:pic>
        <p:nvPicPr>
          <p:cNvPr id="1026" name="Picture 2" descr="Linkedin logo png, Linkedin logo transparent png, Linkedin ...">
            <a:extLst>
              <a:ext uri="{FF2B5EF4-FFF2-40B4-BE49-F238E27FC236}">
                <a16:creationId xmlns:a16="http://schemas.microsoft.com/office/drawing/2014/main" id="{1FCCB52C-40DD-8D3B-EFBE-443D295F2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696" y="272929"/>
            <a:ext cx="1347423" cy="134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job we're automating: the SDR research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accounts?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099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clinics (or coffee shops) that might buy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 right human?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buyer, not the figurehead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even a fit?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3924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against an ideal-customer definition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say?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2336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THIS account should care, in their words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1325880"/>
            <a:ext cx="3977640" cy="3090672"/>
          </a:xfrm>
          <a:prstGeom prst="roundRect">
            <a:avLst>
              <a:gd name="adj" fmla="val 2367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build an AI that does sales.
</a:t>
            </a:r>
            <a:r>
              <a:rPr lang="en-US" sz="1600" dirty="0">
                <a:solidFill>
                  <a:srgbClr val="C7D3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 </a:t>
            </a:r>
            <a:r>
              <a:rPr lang="en-US" sz="1600" b="1" dirty="0">
                <a:solidFill>
                  <a:srgbClr val="1F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machine</a:t>
            </a:r>
            <a:r>
              <a:rPr lang="en-US" sz="1600" dirty="0">
                <a:solidFill>
                  <a:srgbClr val="C7D3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AI operates inside </a:t>
            </a:r>
            <a:r>
              <a:rPr lang="en-US" sz="1600" b="1" dirty="0">
                <a:solidFill>
                  <a:srgbClr val="E8A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r>
              <a:rPr lang="en-US" sz="1600" dirty="0">
                <a:solidFill>
                  <a:srgbClr val="C7D3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with a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holding the pen</a:t>
            </a:r>
            <a:r>
              <a:rPr lang="en-US" sz="1600" dirty="0">
                <a:solidFill>
                  <a:srgbClr val="C7D3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one irreversible step.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vocabulary, mapped to the system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12724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shop that MIGHT buy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row in state 'To Research'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lead worth pursuing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scored lead past the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we sell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weighted scoring rubric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the pain, advocates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Entry-point role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Gatekeeper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Route-around role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Filling in missing 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+ tools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re-add what we 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correctness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scripted outreach sequence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of this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answered twice (sales, then systems)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490472"/>
            <a:ext cx="365760" cy="365760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lead, and what states can it be in?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13716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memory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3504" y="2185416"/>
            <a:ext cx="365760" cy="365760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2066544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fill in what we don't know?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206654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" y="2880360"/>
            <a:ext cx="365760" cy="365760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276148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agent actually call?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276148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" y="3575304"/>
            <a:ext cx="365760" cy="365760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43000" y="345643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stop it doing something dumb?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34564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504" y="4270248"/>
            <a:ext cx="365760" cy="365760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3000" y="415137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human sit?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537960" y="41513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+ learning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CORE 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system's memory lives outside the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memory  →  databases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stage, contacts, scores, signals.
Authoritative, changes daily. </a:t>
            </a: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fresh every run, never 'remembered.'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memory  →  markdown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81051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what worked, methodology.
Durable, slow-changing. </a:t>
            </a: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on demand for context.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lives in 5 real databases: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609344" cy="713232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Outreach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(accounts)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30552" y="3566160"/>
            <a:ext cx="1609344" cy="713232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30552" y="35661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Contacts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03904" y="3566160"/>
            <a:ext cx="1609344" cy="713232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03904" y="35661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(signals)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77256" y="3566160"/>
            <a:ext cx="1609344" cy="713232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77256" y="35661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Runs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(learning log)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50608" y="3566160"/>
            <a:ext cx="1609344" cy="713232"/>
          </a:xfrm>
          <a:prstGeom prst="roundRect">
            <a:avLst>
              <a:gd name="adj" fmla="val 10256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0608" y="35661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queue)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the gate: a clinic in 'In Discussion' is off-limits to the cold pipeline. The schema's enums constrain what the model can write.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CORE 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Definitions = injectable context modules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3035808"/>
          </a:xfrm>
          <a:prstGeom prst="roundRect">
            <a:avLst>
              <a:gd name="adj" fmla="val 241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definitions/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lead.md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a lead 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768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prospect.md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promotion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79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icp.md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ICP as a rubric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081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buyer-roles.md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champion / gatekeeper…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838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state-machine.md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states + transitions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glossary.md</a:t>
            </a: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shared vocabulary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1371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write one giant system prompt.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1847088"/>
            <a:ext cx="292608" cy="292608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1792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only what the worker needs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20756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worker gets icp.md; the contact worker gets buyer-roles.md. Neither carries the other's baggage.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724912"/>
            <a:ext cx="292608" cy="292608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1728" y="2670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versioned units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81728" y="29535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'we mis-score chains' → edit ONE file. The eval loop's governance edits this same surface.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602736"/>
            <a:ext cx="292608" cy="292608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81728" y="3547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ICP file is a rubric, not prose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81728" y="38313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format enforces the determinism boundary: the model retrieves facts, code computes the score.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best practice: progressive disclosure / just-in-time context.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ENRICHMENT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orchestrator that runs focused workers, in waves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F8A8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synthesis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57800" y="137160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last 10 runs, self-tune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8A04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562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18562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(parallel)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185623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blind workers: registry · signals · intel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408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23408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· dedup · score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234086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10. Code, not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8A04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254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68880" y="28254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(batched)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282549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data + contacts + emails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101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3310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gen Angle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57800" y="331012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site + location + 1 contact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F8A8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468880" y="37947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(blocking)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57800" y="37947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dashboard → approvals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8A04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468880" y="42793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log + self-eval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57800" y="42793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write, then grade the run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ENRICHMENT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game: what's code vs what's the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 w="12700">
            <a:solidFill>
              <a:srgbClr val="1F8A8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owns  (correctness)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(weighted rubric)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(ID / domain / fuzzy name)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+ enums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→ priority → 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137160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F3F6F9"/>
          </a:solidFill>
          <a:ln w="12700">
            <a:solidFill>
              <a:srgbClr val="E8A04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owns  (judgment)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1051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&amp; grounding facts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roles from titles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account-specific Angle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human approval intent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8229600" cy="1170432"/>
          </a:xfrm>
          <a:prstGeom prst="roundRect">
            <a:avLst>
              <a:gd name="adj" fmla="val 625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Angle: generative, but constrained by a good/bad exemplar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941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 </a:t>
            </a: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"280 cycles/yr across 4 REIs ≈ 70 per doctor, coordinator bottleneck. Novara automates between-visit engagement."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  </a:t>
            </a:r>
            <a:r>
              <a:rPr lang="en-US" sz="1150" i="1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"Fertility clinic that could benefit from patient engagement software."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actually calls to touch reality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91440" cy="841248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 / Fetch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7393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Registries, job boards, news, LinkedIn profiles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91440" cy="841248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177393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verify emails, returns a confidence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91440" cy="841248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273405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already on our site? Inbound = warmer lead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91440" cy="841248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(MCP + REST)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273405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state; MCP for ergonomics, REST for the long tail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91440" cy="841248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tool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36941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orchestrator's 'fork', spawn focused workers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918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91440" cy="841248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36941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narrative/definition markdown on demand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lessons: MCP is the 'USB-C' of tools · carry confidence/provenance as a first-class field, never collapse it.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checkpoints, match strictness to blast radius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53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371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CRM fields exist, by exact name?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before any 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gate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78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discovery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1122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the CRM? (ID / domain / name)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112264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→ drop; fuzzy → ask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enrichment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85292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viable data present?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852928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 + flag, don't drop silently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9359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359359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human approve the writes?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93592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→ no writes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confident &amp; reversible. Gate the uncertain &amp; irreversible. Fail loud, never silent.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HUMAN-IN-THE-LOOP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human roles, keep them separate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 w="12700">
            <a:solidFill>
              <a:srgbClr val="1F8A8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 DECISION-MAKER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gate (Wave 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does the expensive work, then STOPS and presents a ranked dashboard.
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is a conversation, not a form: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 all"
"approve 1,3,5"
"edit 1: mention their EMR migration"
"not new: 2 is a dupe"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 w="12700">
            <a:solidFill>
              <a:srgbClr val="E8A04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 TEACHER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03120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grades itself first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 the human just reacts), then a 5-question eval with self-assessment pre-filled.
Accepts terse input, </a:t>
            </a:r>
            <a:r>
              <a:rPr lang="en-US" sz="120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"good"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20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"mostly noise"</a:t>
            </a: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maps to structured fields, logged to Cron Runs.
</a:t>
            </a: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log feeds the NEXT run's Wave 0. The loop closes.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LEARNING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Self-tuning under graduated governance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417320" cy="91440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nudges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0312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per run, per-run only. 'Southwest 0% for 3 runs → focus there.' Written to temp, injected into prompts.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417320" cy="91440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human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patterns it can't fix alone. 'Angles generic 3 runs straight → change the instructions. Approve / Dismiss / Defer?'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417320" cy="91440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935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39410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change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03120" y="3429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Tier-2 edits are written to the skill file with a governance log. The system edits its own rules, with a human approving the diff.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best practice: closed-loop evals + graduated autonomy. Improve without drifting.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ARTIFACT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durable record looks in production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7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pm-knowledge/prospects/terra-fertility.md  (injected when this deal comes up)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69080" cy="2788920"/>
          </a:xfrm>
          <a:prstGeom prst="roundRect">
            <a:avLst>
              <a:gd name="adj" fmla="val 2623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fit, as the file states 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"Terra is the textbook Novara ICP"
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+ physician-owner-led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Tech-forward by stated positioning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after a PE event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patient experience w/o staff burden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4069080" cy="2788920"/>
          </a:xfrm>
          <a:prstGeom prst="roundRect">
            <a:avLst>
              <a:gd name="adj" fmla="val 2623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constraint that became the Angle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18888" y="21031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second surface."
</a:t>
            </a:r>
            <a:r>
              <a:rPr lang="en-US" sz="12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Pietro: 'I don't want clinical users checking multiple applications.'
</a:t>
            </a:r>
            <a:r>
              <a:rPr lang="en-US" sz="12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Decision-maker: </a:t>
            </a:r>
            <a:r>
              <a:rPr lang="en-US" sz="12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Pietro Bortoletto (founder)
</a:t>
            </a:r>
            <a:r>
              <a:rPr lang="en-US" sz="1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grounded, role-tagged, not a template.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coffee shop, four stages (BrewOps demo kit)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517904"/>
            <a:ext cx="420624" cy="420624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4937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city + 3 signals. Found by 2 workers (multi-source). contacts: []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2313432"/>
            <a:ext cx="420624" cy="420624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258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+ scored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167128"/>
            <a:ext cx="4937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tx/day, Square-only. Dana = Champion (verified email). Code computes 96/100.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" y="3108960"/>
            <a:ext cx="420624" cy="420624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0540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962656"/>
            <a:ext cx="4937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dashboard → STOPS. Human: 'approve 1, lead the angle with the 2nd location.'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58184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3904488"/>
            <a:ext cx="420624" cy="420624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849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learn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758184"/>
            <a:ext cx="4937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written w/ the edit, every fact sourced. Run grades itself → logged.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adds information under a constraint; the one irreversible action waits for a human.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HOME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own: three friction paths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591056"/>
            <a:ext cx="457200" cy="457200"/>
          </a:xfrm>
          <a:prstGeom prst="ellipse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4688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Project · Custom GPT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runtime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definitions as context</a:t>
            </a:r>
            <a:endParaRPr lang="en-US" sz="10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Web-search inside the chat</a:t>
            </a:r>
            <a:endParaRPr lang="en-US" sz="10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the CRM writes by hand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4096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· no keys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36976" y="137160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38144" y="1591056"/>
            <a:ext cx="457200" cy="457200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0016" y="1627632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16276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38144" y="21488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38144" y="24688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Cowork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38144" y="2743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runs it, you approve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93008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 calls: web · Notion · Hunter</a:t>
            </a:r>
            <a:endParaRPr lang="en-US" sz="10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human gate</a:t>
            </a:r>
            <a:endParaRPr lang="en-US" sz="10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Novara runs 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38144" y="4096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~30–45 min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16752" y="137160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591056"/>
            <a:ext cx="457200" cy="457200"/>
          </a:xfrm>
          <a:prstGeom prst="ellipse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21488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Always-On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24688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Hermes (self-hosted)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743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itself on a schedule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+ memory + MCP, batteries-in</a:t>
            </a:r>
            <a:endParaRPr lang="en-US" sz="10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from Slack / your phone</a:t>
            </a:r>
            <a:endParaRPr lang="en-US" sz="10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Novara actually runs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4096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~half a day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up, leverage up. Pick the lowest tier that does the job; graduate when the loop annoys you.  →  brewops/setup/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502920"/>
          </a:xfrm>
          <a:prstGeom prst="rect">
            <a:avLst/>
          </a:prstGeom>
          <a:solidFill>
            <a:srgbClr val="1F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6035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 → Technical → LLM best practice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(tactical)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(technical)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best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lifecycle / stages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machine over a typed CRM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memory tames non-determinism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definitions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Per-concept files injected on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disclosure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 research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+ parallel workers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pattern; context 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/ lead scoring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rubric + thresholds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in code, judgment in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pitch / 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Constrained generation, exemplars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Few-shot, grounded in 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add a dupe / junk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· dedup · validation · human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Guardrails; calibrated autonomy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reviews the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3 blocking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at the irreversible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the rep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Self-eval + 3-tier self-tuning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Closed-loop evals; governance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Novara Fertility · EvoNexus AI Meetup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is ~20% of this system.
</a:t>
            </a:r>
            <a:r>
              <a:rPr lang="en-US" sz="3000" b="1" dirty="0">
                <a:solidFill>
                  <a:srgbClr val="C7D3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 machine, the gates, and the eval loop are the load-bearing 80%.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an AI that does the job.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rails the AI runs on, and own the gates.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402336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48256" y="402336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48256" y="40233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402336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39312" y="402336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39312" y="40233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02352" y="402336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0368" y="402336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0368" y="40233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3408" y="402336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21424" y="4023360"/>
            <a:ext cx="1481328" cy="384048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2700">
            <a:solidFill>
              <a:srgbClr val="2A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21424" y="40233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Ellington  ·  Novara Fertility  ·  EvoNexus AI Meetup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1934</Words>
  <Application>Microsoft Macintosh PowerPoint</Application>
  <PresentationFormat>On-screen Show (16:9)</PresentationFormat>
  <Paragraphs>348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Lead Enrichment Pipeline with LLM Agents</dc:title>
  <dc:subject>PptxGenJS Presentation</dc:subject>
  <dc:creator>Stephen Ellington</dc:creator>
  <cp:lastModifiedBy>Stephen Ellington</cp:lastModifiedBy>
  <cp:revision>2</cp:revision>
  <dcterms:created xsi:type="dcterms:W3CDTF">2026-06-04T20:02:14Z</dcterms:created>
  <dcterms:modified xsi:type="dcterms:W3CDTF">2026-06-04T23:34:30Z</dcterms:modified>
</cp:coreProperties>
</file>